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5030"/>
                </a:solidFill>
                <a:latin typeface="Calibri"/>
              </a:rPr>
              <a:t>COMPLETE RESEARCH ATLAS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CE3"/>
                </a:solidFill>
                <a:latin typeface="Calibri"/>
              </a:rPr>
              <a:t>Dravidian Folk-Tribal Deities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04288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85030"/>
                </a:solidFill>
                <a:latin typeface="Calibri"/>
              </a:rPr>
              <a:t>&amp; Sanskritization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09880"/>
                </a:solidFill>
                <a:latin typeface="Calibri"/>
              </a:rPr>
              <a:t>A comprehensive atlas of pre-Brahminical folk and tribal deities across 5 Dravidian states plus the extended Dravidian-speaking belt — with evidence quality, Sanskritization paths, and resistance cases fully documented.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9880"/>
                </a:solidFill>
                <a:latin typeface="Calibri"/>
              </a:rPr>
              <a:t>Concept: M.N. Srinivas, Religion and Society Among the Coorgs (1952)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51959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9880"/>
                </a:solidFill>
                <a:latin typeface="Calibri"/>
              </a:rPr>
              <a:t>Coverage: TN · Kerala · Karnataka · AP · Telangana · Jharkhand · Maharashtra · Odisha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79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9880"/>
                </a:solidFill>
                <a:latin typeface="Calibri"/>
              </a:rPr>
              <a:t>Sources: Academic · Epigraphic · Archaeological · Oral-tradition flagged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9880"/>
                </a:solidFill>
                <a:latin typeface="Calibri"/>
              </a:rPr>
              <a:t>Last updated: 2026-07-15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64008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5EA7"/>
                </a:solidFill>
                <a:latin typeface="Calibri"/>
              </a:rPr>
              <a:t>KEY STATS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1005840"/>
            <a:ext cx="3200400" cy="420624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87968" y="10515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ECE3"/>
                </a:solidFill>
                <a:latin typeface="Calibri"/>
              </a:rPr>
              <a:t>• 63+ traditions documented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536192"/>
            <a:ext cx="3200400" cy="420624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87968" y="15819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ECE3"/>
                </a:solidFill>
                <a:latin typeface="Calibri"/>
              </a:rPr>
              <a:t>• 9 regions covered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2066543"/>
            <a:ext cx="3200400" cy="420624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87968" y="2112263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ECE3"/>
                </a:solidFill>
                <a:latin typeface="Calibri"/>
              </a:rPr>
              <a:t>• 4 active resistance counter-cases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2596896"/>
            <a:ext cx="3200400" cy="420624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7968" y="2642615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ECE3"/>
                </a:solidFill>
                <a:latin typeface="Calibri"/>
              </a:rPr>
              <a:t>• Sanskritization selective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8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"/>
            <a:ext cx="12188952" cy="2286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0" y="1463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9880"/>
                </a:solidFill>
                <a:latin typeface="Calibri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1828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ECE3"/>
                </a:solidFill>
                <a:latin typeface="Calibri"/>
              </a:rPr>
              <a:t>What Is Sanskritization?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1463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9880"/>
                </a:solidFill>
                <a:latin typeface="Calibri"/>
              </a:rPr>
              <a:t>2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68680"/>
            <a:ext cx="11365992" cy="1005840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89611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88FD0"/>
                </a:solidFill>
                <a:latin typeface="Calibri"/>
              </a:rPr>
              <a:t>"The process by which a 'low' Hindu caste, or tribal or other group, attempts to rise higher in the ritual hierarchy by adopting Brahminical customs."
— M.N. Srinivas, Religion and Society Among the Coorgs of South India (1952)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933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5EA7"/>
                </a:solidFill>
                <a:latin typeface="Calibri"/>
              </a:rPr>
              <a:t>KEY TERMS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86000"/>
            <a:ext cx="1691640" cy="256032"/>
          </a:xfrm>
          <a:prstGeom prst="rect">
            <a:avLst/>
          </a:prstGeom>
          <a:solidFill>
            <a:srgbClr val="1A1528"/>
          </a:solidFill>
          <a:ln w="6350">
            <a:solidFill>
              <a:srgbClr val="2A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13432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0B8A0"/>
                </a:solidFill>
                <a:latin typeface="Calibri"/>
              </a:rPr>
              <a:t>ABSORBED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2286000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CE3"/>
                </a:solidFill>
                <a:latin typeface="Calibri"/>
              </a:rPr>
              <a:t>Fully integrated — Sanskrit name, Puranic backstory, Brahmin priests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907792"/>
            <a:ext cx="1691640" cy="256032"/>
          </a:xfrm>
          <a:prstGeom prst="rect">
            <a:avLst/>
          </a:prstGeom>
          <a:solidFill>
            <a:srgbClr val="1A1528"/>
          </a:solidFill>
          <a:ln w="635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35224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88FD0"/>
                </a:solidFill>
                <a:latin typeface="Calibri"/>
              </a:rPr>
              <a:t>PARTIALLY ABSORBED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2907792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CE3"/>
                </a:solidFill>
                <a:latin typeface="Calibri"/>
              </a:rPr>
              <a:t>Sanskritization overlays but core tribal ritual preserved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529584"/>
            <a:ext cx="1691640" cy="256032"/>
          </a:xfrm>
          <a:prstGeom prst="rect">
            <a:avLst/>
          </a:prstGeom>
          <a:solidFill>
            <a:srgbClr val="1A1528"/>
          </a:solidFill>
          <a:ln w="6350">
            <a:solidFill>
              <a:srgbClr val="C8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5701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805A"/>
                </a:solidFill>
                <a:latin typeface="Calibri"/>
              </a:rPr>
              <a:t>NOT ABSORBED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3529584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CE3"/>
                </a:solidFill>
                <a:latin typeface="Calibri"/>
              </a:rPr>
              <a:t>Genuine pre-Brahminical survival — minimal contact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151376"/>
            <a:ext cx="1691640" cy="256032"/>
          </a:xfrm>
          <a:prstGeom prst="rect">
            <a:avLst/>
          </a:prstGeom>
          <a:solidFill>
            <a:srgbClr val="1A1528"/>
          </a:solidFill>
          <a:ln w="6350">
            <a:solidFill>
              <a:srgbClr val="C8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17880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805A"/>
                </a:solidFill>
                <a:latin typeface="Calibri"/>
              </a:rPr>
              <a:t>ACTIVELY RESISTING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4151376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CE3"/>
                </a:solidFill>
                <a:latin typeface="Calibri"/>
              </a:rPr>
              <a:t>Explicit community refusal — reform or political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773168"/>
            <a:ext cx="1691640" cy="256032"/>
          </a:xfrm>
          <a:prstGeom prst="rect">
            <a:avLst/>
          </a:prstGeom>
          <a:solidFill>
            <a:srgbClr val="1A1528"/>
          </a:solidFill>
          <a:ln w="635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88FD0"/>
                </a:solidFill>
                <a:latin typeface="Calibri"/>
              </a:rPr>
              <a:t>DUAL-TRACK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2848" y="4773168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CE3"/>
                </a:solidFill>
                <a:latin typeface="Calibri"/>
              </a:rPr>
              <a:t>Same name, folk+Sanskritized forms coexisting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1828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PATTERN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ECE3"/>
                </a:solidFill>
                <a:latin typeface="Calibri"/>
              </a:rPr>
              <a:t>Five Factors That Determined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1463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9880"/>
                </a:solidFill>
                <a:latin typeface="Calibri"/>
              </a:rPr>
              <a:t>3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8686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5EA7"/>
                </a:solidFill>
                <a:latin typeface="Calibri"/>
              </a:rPr>
              <a:t>FACTOR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8686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5EA7"/>
                </a:solidFill>
                <a:latin typeface="Calibri"/>
              </a:rPr>
              <a:t>ABSORBED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8686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5EA7"/>
                </a:solidFill>
                <a:latin typeface="Calibri"/>
              </a:rPr>
              <a:t>RESISTED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170432"/>
            <a:ext cx="11365992" cy="530352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618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85030"/>
                </a:solidFill>
                <a:latin typeface="Calibri"/>
              </a:rPr>
              <a:t>Proximity to Brahminical centers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26187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B8A0"/>
                </a:solidFill>
                <a:latin typeface="Calibri"/>
              </a:rPr>
              <a:t>Near temple towns, Brahmin settlements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26187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805A"/>
                </a:solidFill>
                <a:latin typeface="Calibri"/>
              </a:rPr>
              <a:t>Remote forest/hill/desert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792224"/>
            <a:ext cx="11365992" cy="530352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88366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85030"/>
                </a:solidFill>
                <a:latin typeface="Calibri"/>
              </a:rPr>
              <a:t>Agricultural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188366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B8A0"/>
                </a:solidFill>
                <a:latin typeface="Calibri"/>
              </a:rPr>
              <a:t>Wet-rice agrarian (Tamil, Kerala)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188366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805A"/>
                </a:solidFill>
                <a:latin typeface="Calibri"/>
              </a:rPr>
              <a:t>Pastoral/shifting (Gond, Lambanis)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414016"/>
            <a:ext cx="11365992" cy="530352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50545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85030"/>
                </a:solidFill>
                <a:latin typeface="Calibri"/>
              </a:rPr>
              <a:t>Political patronage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505456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B8A0"/>
                </a:solidFill>
                <a:latin typeface="Calibri"/>
              </a:rPr>
              <a:t>Chola, Hoysala, Kakatiya royal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50545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805A"/>
                </a:solidFill>
                <a:latin typeface="Calibri"/>
              </a:rPr>
              <a:t>No royal; tribal autonomy preserved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035808"/>
            <a:ext cx="11365992" cy="530352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1272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85030"/>
                </a:solidFill>
                <a:latin typeface="Calibri"/>
              </a:rPr>
              <a:t>Timing of contact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12724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B8A0"/>
                </a:solidFill>
                <a:latin typeface="Calibri"/>
              </a:rPr>
              <a:t>Early (pre-500 CE) → heavy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127248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805A"/>
                </a:solidFill>
                <a:latin typeface="Calibri"/>
              </a:rPr>
              <a:t>Late (post-1500 CE) → selective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657600"/>
            <a:ext cx="11365992" cy="530352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7490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85030"/>
                </a:solidFill>
                <a:latin typeface="Calibri"/>
              </a:rPr>
              <a:t>Priesthood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749039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B8A0"/>
                </a:solidFill>
                <a:latin typeface="Calibri"/>
              </a:rPr>
              <a:t>Brahmin adopted → accelerated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749039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805A"/>
                </a:solidFill>
                <a:latin typeface="Calibri"/>
              </a:rPr>
              <a:t>Non-Brahmin hereditary maintained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315968"/>
            <a:ext cx="11365992" cy="822960"/>
          </a:xfrm>
          <a:prstGeom prst="rect">
            <a:avLst/>
          </a:prstGeom>
          <a:solidFill>
            <a:srgbClr val="102522"/>
          </a:solidFill>
          <a:ln w="6350">
            <a:solidFill>
              <a:srgbClr val="2A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37083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0B8A0"/>
                </a:solidFill>
                <a:latin typeface="Calibri"/>
              </a:rPr>
              <a:t>EXCLUSION PARADOX (Kerala):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608576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9880"/>
                </a:solidFill>
                <a:latin typeface="Calibri"/>
              </a:rPr>
              <a:t>Thiyyar excluded from Brahminical Hinduism — never given access to Brahmin temples. Never needed to Sanskritize for status. Exclusion preserved what inclusion would have destroyed.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1828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ECE3"/>
                </a:solidFill>
                <a:latin typeface="Calibri"/>
              </a:rPr>
              <a:t>Overview: 63+ Traditions Across 9 Regions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1463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9880"/>
                </a:solidFill>
                <a:latin typeface="Calibri"/>
              </a:rPr>
              <a:t>4 / 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868680"/>
          <a:ext cx="1136599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57200"/>
                <a:gridCol w="365760"/>
                <a:gridCol w="365760"/>
                <a:gridCol w="365760"/>
                <a:gridCol w="8165592"/>
              </a:tblGrid>
              <a:tr h="51206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7B5EA7"/>
                          </a:solidFill>
                          <a:latin typeface="Calibri"/>
                        </a:rPr>
                        <a:t>State / Region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7B5EA7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7B5EA7"/>
                          </a:solidFill>
                          <a:latin typeface="Calibri"/>
                        </a:rPr>
                        <a:t>Abs.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7B5EA7"/>
                          </a:solidFill>
                          <a:latin typeface="Calibri"/>
                        </a:rPr>
                        <a:t>Part.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7B5EA7"/>
                          </a:solidFill>
                          <a:latin typeface="Calibri"/>
                        </a:rPr>
                        <a:t>Not.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7B5EA7"/>
                          </a:solidFill>
                          <a:latin typeface="Calibri"/>
                        </a:rPr>
                        <a:t>Key Finding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Tamil Nadu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Tamil Nadu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Bhakti: Tamil Hindu third path, no Brahmin mediation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Bhakti: Tamil Hindu third path, no Brahmin mediation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Kerala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Kerala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Exclusion paradox: Thiyyar excluded → Theyyam/Muthappan intact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Exclusion paradox: Thiyyar excluded → Theyyam/Muthappan intact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Karnataka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Karnataka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Basava/Lingayat = strongest active resistance in South India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Basava/Lingayat = strongest active resistance in South India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Andhra Pradesh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Andhra Pradesh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Renuka dual-track: folk + Puranic forms coexist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Renuka dual-track: folk + Puranic forms coexist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Telangana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Telangana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Two-level; Gond Persa Pen = active political refusal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Two-level; Gond Persa Pen = active political refusal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Jharkhand (Sarna)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Jharkhand (Sarna)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Most clearly unabsorbed named tribal religion; census separate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Most clearly unabsorbed named tribal religion; census separate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Maharashtra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Maharashtra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Varkari = democratized from below; Vithoba pan-caste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Varkari = democratized from below; Vithoba pan-caste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Odisha / Chhattisgarh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Odisha / Chhattisgarh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Danteshwari state goddess; tribal ritual form preserved</a:t>
                      </a:r>
                      <a:r>
                        <a:rPr sz="850">
                          <a:solidFill>
                            <a:srgbClr val="D0CCBC"/>
                          </a:solidFill>
                          <a:latin typeface="Calibri"/>
                        </a:rPr>
                        <a:t>Danteshwari state goddess; tribal ritual form preserved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Brahmaputra Valley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Brahmaputra Valley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Bodo-Kachari pre-Hindu; Ahom patronage = partial</a:t>
                      </a:r>
                      <a:r>
                        <a:rPr sz="850">
                          <a:solidFill>
                            <a:srgbClr val="F0ECE3"/>
                          </a:solidFill>
                          <a:latin typeface="Calibri"/>
                        </a:rPr>
                        <a:t>Bodo-Kachari pre-Hindu; Ahom patronage = partial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1828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TAMIL NADU · 12 DEITIES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ECE3"/>
                </a:solidFill>
                <a:latin typeface="Calibri"/>
              </a:rPr>
              <a:t>Tamil Nadu: The Divine Lineage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1463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9880"/>
                </a:solidFill>
                <a:latin typeface="Calibri"/>
              </a:rPr>
              <a:t>5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68680"/>
            <a:ext cx="11365992" cy="457200"/>
          </a:xfrm>
          <a:prstGeom prst="rect">
            <a:avLst/>
          </a:prstGeom>
          <a:solidFill>
            <a:srgbClr val="1A1528"/>
          </a:solidFill>
          <a:ln w="635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8961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8FD0"/>
                </a:solidFill>
                <a:latin typeface="Calibri"/>
              </a:rPr>
              <a:t>KEY: Tamil Bhakti (6th–9th c.) — Nayanmars+Alvars — created parallel Tamil religious tradition. Folk deities entered Sanskritic fold via Tamil saints, WITHOUT Brahminical mediation.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389888"/>
          <a:ext cx="113659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1645920"/>
                <a:gridCol w="731520"/>
                <a:gridCol w="5330952"/>
              </a:tblGrid>
              <a:tr h="58293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Deity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Original Form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Sanskritized As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t>Murugan (Cheyyon)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Murugan (Cheyyon)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Tamil Kurinji god; Sangam era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Tamil Kurinji god; Sangam era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Skanda / Kartikeya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Skanda / Kartikeya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Fused with Sanskrit epic; Tamil at folk level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Fused with Sanskrit epic; Tamil at folk level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t>Mariamman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Mariamman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Irula/Kurumba rain&amp;smallpox; pre-Sangam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Irula/Kurumba rain&amp;smallpox; pre-Sangam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Parvati/Kali/Durga/Draupadi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Parvati/Kali/Durga/Draupadi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10th c. Chola temples; Shakta synthesis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10th c. Chola temples; Shakta synthesis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t>Ayyanar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Ayyanar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Kootrall Vazhi guardian; hero stones; 3rd c.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Kootrall Vazhi guardian; hero stones; 3rd c.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Sastha / Hariharasuta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Sastha / Hariharasuta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Brahmanda Purana 7th c.; Pottr caste priest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Brahmanda Purana 7th c.; Pottr caste priest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t>Madurai Veeran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Madurai Veeran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Hero stone; Sangam era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Hero stone; Sangam era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Guardian / Bhairava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Guardian / Bhairava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MOD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MOD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Hero stones→village deity→Shaiva absorption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Hero stones→village deity→Shaiva absorption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t>Muniswara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Muniswara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Hero stone; pre-Sangam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Hero stone; pre-Sangam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Shiva (Mahadeva)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Shiva (Mahadeva)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MOD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MOD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Shaiva; some Brahmin later; non-Brahmin survives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Shaiva; some Brahmin later; non-Brahmin survives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t>Sudalai Madan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Sudalai Madan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Southern TN (Chakkiliya); medieval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Southern TN (Chakkiliya); medieval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Bhairava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Bhairava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MOD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MOD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Shaiva via fierce-deity classification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Shaiva via fierce-deity classification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t>Tirumala Viravan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Tirumala Viravan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Tirumala hills/Chittoor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Tirumala hills/Chittoor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Vishnu/Venkateswara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Vishnu/Venkateswara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LOW-MOD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LOW-MOD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Vaishnava; Brahmin at main; village non-Brahmin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Vaishnava; Brahmin at main; village non-Brahmin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1828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KERALA · 9 DEITIES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ECE3"/>
                </a:solidFill>
                <a:latin typeface="Calibri"/>
              </a:rPr>
              <a:t>Kerala: Theyyam and the Exclusion Paradox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1463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9880"/>
                </a:solidFill>
                <a:latin typeface="Calibri"/>
              </a:rPr>
              <a:t>6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8686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B8A0"/>
                </a:solidFill>
                <a:latin typeface="Calibri"/>
              </a:rPr>
              <a:t>ABSORBED / PARTIAL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70432"/>
            <a:ext cx="5394960" cy="402336"/>
          </a:xfrm>
          <a:prstGeom prst="rect">
            <a:avLst/>
          </a:prstGeom>
          <a:solidFill>
            <a:srgbClr val="1A1528"/>
          </a:solidFill>
          <a:ln w="6350">
            <a:solidFill>
              <a:srgbClr val="2A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070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ECE3"/>
                </a:solidFill>
                <a:latin typeface="Calibri"/>
              </a:rPr>
              <a:t>Ayyappan (Sastha)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20700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8FD0"/>
                </a:solidFill>
                <a:latin typeface="Calibri"/>
              </a:rPr>
              <a:t>PARTIAL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37160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9880"/>
                </a:solidFill>
                <a:latin typeface="Calibri"/>
              </a:rPr>
              <a:t>LOW-MOD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645920"/>
            <a:ext cx="5394960" cy="402336"/>
          </a:xfrm>
          <a:prstGeom prst="rect">
            <a:avLst/>
          </a:prstGeom>
          <a:solidFill>
            <a:srgbClr val="1A1528"/>
          </a:solidFill>
          <a:ln w="6350">
            <a:solidFill>
              <a:srgbClr val="2A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6824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ECE3"/>
                </a:solidFill>
                <a:latin typeface="Calibri"/>
              </a:rPr>
              <a:t>Vishnumoorthy Theyyam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68249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8FD0"/>
                </a:solidFill>
                <a:latin typeface="Calibri"/>
              </a:rPr>
              <a:t>PARTIAL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84708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9880"/>
                </a:solidFill>
                <a:latin typeface="Calibri"/>
              </a:rPr>
              <a:t>MOD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121408"/>
            <a:ext cx="5394960" cy="402336"/>
          </a:xfrm>
          <a:prstGeom prst="rect">
            <a:avLst/>
          </a:prstGeom>
          <a:solidFill>
            <a:srgbClr val="1A1528"/>
          </a:solidFill>
          <a:ln w="6350">
            <a:solidFill>
              <a:srgbClr val="2A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1579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ECE3"/>
                </a:solidFill>
                <a:latin typeface="Calibri"/>
              </a:rPr>
              <a:t>Theyyam pantheon (~456)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15798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8FD0"/>
                </a:solidFill>
                <a:latin typeface="Calibri"/>
              </a:rPr>
              <a:t>MARGINAL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32257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9880"/>
                </a:solidFill>
                <a:latin typeface="Calibri"/>
              </a:rPr>
              <a:t>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596896"/>
            <a:ext cx="5394960" cy="402336"/>
          </a:xfrm>
          <a:prstGeom prst="rect">
            <a:avLst/>
          </a:prstGeom>
          <a:solidFill>
            <a:srgbClr val="1A1528"/>
          </a:solidFill>
          <a:ln w="6350">
            <a:solidFill>
              <a:srgbClr val="2A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633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ECE3"/>
                </a:solidFill>
                <a:latin typeface="Calibri"/>
              </a:rPr>
              <a:t>Kuttichathan (Chathan)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263347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8FD0"/>
                </a:solidFill>
                <a:latin typeface="Calibri"/>
              </a:rPr>
              <a:t>PARTIAL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2798064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9880"/>
                </a:solidFill>
                <a:latin typeface="Calibri"/>
              </a:rPr>
              <a:t>LOW-MOD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127248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9880"/>
                </a:solidFill>
                <a:latin typeface="Calibri"/>
              </a:rPr>
              <a:t>Ayyappan note: Gurukkal &amp; Narayanan dispute Mala Arayan origin. 855 CE Padmanabhapuram shows Sastha as subordinate.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86868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805A"/>
                </a:solidFill>
                <a:latin typeface="Calibri"/>
              </a:rPr>
              <a:t>NOT ABSORBED — CONTROL CASES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1170432"/>
            <a:ext cx="5742432" cy="731520"/>
          </a:xfrm>
          <a:prstGeom prst="rect">
            <a:avLst/>
          </a:prstGeom>
          <a:solidFill>
            <a:srgbClr val="1A1528"/>
          </a:solidFill>
          <a:ln w="6350">
            <a:solidFill>
              <a:srgbClr val="C8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4768" y="120700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805A"/>
                </a:solidFill>
                <a:latin typeface="Calibri"/>
              </a:rPr>
              <a:t>Muthappan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120700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9880"/>
                </a:solidFill>
                <a:latin typeface="Calibri"/>
              </a:rPr>
              <a:t>[MOD-HIGH]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1426464"/>
            <a:ext cx="5440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CE3"/>
                </a:solidFill>
                <a:latin typeface="Calibri"/>
              </a:rPr>
              <a:t>No idol·No kodimaram·Toddy/fish/flesh·Inclusive ALL religions·Thiyyar-only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1975104"/>
            <a:ext cx="5742432" cy="731520"/>
          </a:xfrm>
          <a:prstGeom prst="rect">
            <a:avLst/>
          </a:prstGeom>
          <a:solidFill>
            <a:srgbClr val="1A1528"/>
          </a:solidFill>
          <a:ln w="6350">
            <a:solidFill>
              <a:srgbClr val="C8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4768" y="201168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805A"/>
                </a:solidFill>
                <a:latin typeface="Calibri"/>
              </a:rPr>
              <a:t>Theyyam (~456 types)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0116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9880"/>
                </a:solidFill>
                <a:latin typeface="Calibri"/>
              </a:rPr>
              <a:t>[HIGH]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2231136"/>
            <a:ext cx="5440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CE3"/>
                </a:solidFill>
                <a:latin typeface="Calibri"/>
              </a:rPr>
              <a:t>Thiyyar full autonomy. Blood sacrifice, toddy, trance. Brahmins relinquished.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2779776"/>
            <a:ext cx="5742432" cy="731520"/>
          </a:xfrm>
          <a:prstGeom prst="rect">
            <a:avLst/>
          </a:prstGeom>
          <a:solidFill>
            <a:srgbClr val="1A1528"/>
          </a:solidFill>
          <a:ln w="6350">
            <a:solidFill>
              <a:srgbClr val="C8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4768" y="281635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805A"/>
                </a:solidFill>
                <a:latin typeface="Calibri"/>
              </a:rPr>
              <a:t>Kattunayakan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81635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9880"/>
                </a:solidFill>
                <a:latin typeface="Calibri"/>
              </a:rPr>
              <a:t>[LOW-MOD]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3035808"/>
            <a:ext cx="5440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CE3"/>
                </a:solidFill>
                <a:latin typeface="Calibri"/>
              </a:rPr>
              <a:t>Shamanic; no Brahmin mediation; community autonomy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3584448"/>
            <a:ext cx="5742432" cy="731520"/>
          </a:xfrm>
          <a:prstGeom prst="rect">
            <a:avLst/>
          </a:prstGeom>
          <a:solidFill>
            <a:srgbClr val="1A1528"/>
          </a:solidFill>
          <a:ln w="6350">
            <a:solidFill>
              <a:srgbClr val="C8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44768" y="362102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805A"/>
                </a:solidFill>
                <a:latin typeface="Calibri"/>
              </a:rPr>
              <a:t>Padayani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362102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9880"/>
                </a:solidFill>
                <a:latin typeface="Calibri"/>
              </a:rPr>
              <a:t>[LOW-MOD]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4768" y="3840480"/>
            <a:ext cx="5440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CE3"/>
                </a:solidFill>
                <a:latin typeface="Calibri"/>
              </a:rPr>
              <a:t>Blood sacrifice+trance; pre-Hindu; parallel to Theyyam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3840480"/>
            <a:ext cx="11365992" cy="548640"/>
          </a:xfrm>
          <a:prstGeom prst="rect">
            <a:avLst/>
          </a:prstGeom>
          <a:solidFill>
            <a:srgbClr val="201210"/>
          </a:solidFill>
          <a:ln w="6350">
            <a:solidFill>
              <a:srgbClr val="C8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8862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805A"/>
                </a:solidFill>
                <a:latin typeface="Calibri"/>
              </a:rPr>
              <a:t>456 DOCUMENTED THEYYAM TYPES (K.K.N. Kurup) — Neolithic/Chalcolithic (Alchin). Blood sacrifice, toddy, trance.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1828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KARNATAKA · 10 DEITIES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ECE3"/>
                </a:solidFill>
                <a:latin typeface="Calibri"/>
              </a:rPr>
              <a:t>Karnataka: Lingayat — Strongest Resistance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1463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9880"/>
                </a:solidFill>
                <a:latin typeface="Calibri"/>
              </a:rPr>
              <a:t>7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68680"/>
            <a:ext cx="11365992" cy="658368"/>
          </a:xfrm>
          <a:prstGeom prst="rect">
            <a:avLst/>
          </a:prstGeom>
          <a:solidFill>
            <a:srgbClr val="201210"/>
          </a:solidFill>
          <a:ln w="6350">
            <a:solidFill>
              <a:srgbClr val="C8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896112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805A"/>
                </a:solidFill>
                <a:latin typeface="Calibri"/>
              </a:rPr>
              <a:t>LINGAYAT COUNTER-CASE — Active rejection, not passive survival.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0ECE3"/>
                </a:solidFill>
                <a:latin typeface="Calibri"/>
              </a:rPr>
              <a:t>Basaveshwara (1131–1167 CE): rejected Brahminical temple worship, Sanskrit scripture, caste hierarchy. Portable īṣṭaliṅga, Kannada scripture, open priesthood. Still separate in census.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600200"/>
          <a:ext cx="1136599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731520"/>
                <a:gridCol w="6702552"/>
              </a:tblGrid>
              <a:tr h="33528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Deity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Sanskritized As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Khandoba (Mailara)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Khandoba (Mailara)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Martanda Bhairava (Shiva+Surya)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Martanda Bhairava (Shiva+Surya)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Inscriptions 1063+1148 CE; Malhari Mahatmya ~1460–1510 CE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Inscriptions 1063+1148 CE; Malhari Mahatmya ~1460–1510 CE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Karaga (Tigala)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Karaga (Tigala)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Draupadi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Draupadi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LOW-MOD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LOW-MOD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Epic association; Tigala women perform (men excluded)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Epic association; Tigala women perform (men excluded)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27249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5EA7"/>
                </a:solidFill>
                <a:latin typeface="Calibri"/>
              </a:rPr>
              <a:t>PARTIALLY / MARGINALLY ABSORBED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35808"/>
            <a:ext cx="11365992" cy="457200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81527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5EA7"/>
                </a:solidFill>
                <a:latin typeface="Calibri"/>
              </a:rPr>
              <a:t>Bhuta Kola (Tuluva)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081527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8FD0"/>
                </a:solidFill>
                <a:latin typeface="Calibri"/>
              </a:rPr>
              <a:t>MARGINAL [MOD]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081527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0ECE3"/>
                </a:solidFill>
                <a:latin typeface="Calibri"/>
              </a:rPr>
              <a:t>Spirit-possession; some linked to Shiva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566160"/>
            <a:ext cx="11365992" cy="457200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611879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5EA7"/>
                </a:solidFill>
                <a:latin typeface="Calibri"/>
              </a:rPr>
              <a:t>Kuruba folk deities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611879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8FD0"/>
                </a:solidFill>
                <a:latin typeface="Calibri"/>
              </a:rPr>
              <a:t>PARTIAL [LOW-MOD]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611879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0ECE3"/>
                </a:solidFill>
                <a:latin typeface="Calibri"/>
              </a:rPr>
              <a:t>Linked to Shiva+Grama Devata; Kuruba priest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096511"/>
            <a:ext cx="11365992" cy="457200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42231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5EA7"/>
                </a:solidFill>
                <a:latin typeface="Calibri"/>
              </a:rPr>
              <a:t>Idiga folk gods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142231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8FD0"/>
                </a:solidFill>
                <a:latin typeface="Calibri"/>
              </a:rPr>
              <a:t>PARTIAL [LOW]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142231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0ECE3"/>
                </a:solidFill>
                <a:latin typeface="Calibri"/>
              </a:rPr>
              <a:t>Partially linked to Shiva; Idiga priest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1828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ANDHRA PRADESH · 10 DEITIES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ECE3"/>
                </a:solidFill>
                <a:latin typeface="Calibri"/>
              </a:rPr>
              <a:t>Andhra Pradesh: Renuka Dual-Track Phenomenon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1463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9880"/>
                </a:solidFill>
                <a:latin typeface="Calibri"/>
              </a:rPr>
              <a:t>8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68680"/>
            <a:ext cx="11365992" cy="457200"/>
          </a:xfrm>
          <a:prstGeom prst="rect">
            <a:avLst/>
          </a:prstGeom>
          <a:solidFill>
            <a:srgbClr val="1A1528"/>
          </a:solidFill>
          <a:ln w="6350">
            <a:solidFill>
              <a:srgbClr val="C8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8961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805A"/>
                </a:solidFill>
                <a:latin typeface="Calibri"/>
              </a:rPr>
              <a:t>KEY: Kakatiya dynasty (12th–14th c.) patronized both Sanskritized Shaivism AND local folk. Royal patronage ACCELERATED Sanskritization — Sanskritization was the price of legitimacy.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4173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5EA7"/>
                </a:solidFill>
                <a:latin typeface="Calibri"/>
              </a:rPr>
              <a:t>RENUKA / YELLAMMA — ONE NAME, TWO PARALLEL TRADITIONS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190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Calibri"/>
              </a:rPr>
              <a:t>ASPECT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71907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805A"/>
                </a:solidFill>
                <a:latin typeface="Calibri"/>
              </a:rPr>
              <a:t>FOLK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71907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0B8A0"/>
                </a:solidFill>
                <a:latin typeface="Calibri"/>
              </a:rPr>
              <a:t>SANSKRITIZED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965960"/>
            <a:ext cx="11365992" cy="365760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01167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Who worships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011679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CE3"/>
                </a:solidFill>
                <a:latin typeface="Calibri"/>
              </a:rPr>
              <a:t>Malas, Madigas (Dalit) rural KA/AP/Telangana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011679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0B8A0"/>
                </a:solidFill>
                <a:latin typeface="Calibri"/>
              </a:rPr>
              <a:t>Brahminical Hindu households across South India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386584"/>
            <a:ext cx="11365992" cy="365760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432303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Priesthood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432303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CE3"/>
                </a:solidFill>
                <a:latin typeface="Calibri"/>
              </a:rPr>
              <a:t>Non-Brahmin; often Dalits themselves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432303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0B8A0"/>
                </a:solidFill>
                <a:latin typeface="Calibri"/>
              </a:rPr>
              <a:t>Brahmin exclusively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807208"/>
            <a:ext cx="11365992" cy="365760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85292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Origin myth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852927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CE3"/>
                </a:solidFill>
                <a:latin typeface="Calibri"/>
              </a:rPr>
              <a:t>Oral; village-specific; independent of Puranic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852927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0B8A0"/>
                </a:solidFill>
                <a:latin typeface="Calibri"/>
              </a:rPr>
              <a:t>Wife of Jamadagni, mother of Parashurama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227832"/>
            <a:ext cx="11365992" cy="365760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2735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Ritual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273552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CE3"/>
                </a:solidFill>
                <a:latin typeface="Calibri"/>
              </a:rPr>
              <a:t>Village shrine/open ground; blood sacrifice, toddy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273552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0B8A0"/>
                </a:solidFill>
                <a:latin typeface="Calibri"/>
              </a:rPr>
              <a:t>Brahminical puja; Sanskrit chants; temple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648456"/>
            <a:ext cx="11365992" cy="365760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6941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Social meaning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69417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CE3"/>
                </a:solidFill>
                <a:latin typeface="Calibri"/>
              </a:rPr>
              <a:t>Dalit identity marker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694176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0B8A0"/>
                </a:solidFill>
                <a:latin typeface="Calibri"/>
              </a:rPr>
              <a:t>Brahminical Shakti worship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069080"/>
            <a:ext cx="11365992" cy="365760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114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Sanskritization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411480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CE3"/>
                </a:solidFill>
                <a:latin typeface="Calibri"/>
              </a:rPr>
              <a:t>NONE — maintained independently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114800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0B8A0"/>
                </a:solidFill>
                <a:latin typeface="Calibri"/>
              </a:rPr>
              <a:t>Fully via Puranic integration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4535424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09880"/>
                </a:solidFill>
                <a:latin typeface="Calibri"/>
              </a:rPr>
              <a:t>Both true simultaneously: studying Puranic Renuka → entirely absorbed. Studying folk Renuka → entirely resisted.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411480" y="4919472"/>
          <a:ext cx="11365992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4965192"/>
              </a:tblGrid>
              <a:tr h="4267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Deity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Sanskritized As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Mallanna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Mallanna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Mallikarjuna / Jyotirlinga (Shiva)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Mallikarjuna / Jyotirlinga (Shiva)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 · Warangal 1369 CE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HIGH · Warangal 1369 CE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Kakatiya royal patronage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Kakatiya royal patronage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Gangamma (Rayalaseema)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Gangamma (Rayalaseema)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Shakti / Kali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Shakti / Kali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MOD · 16th c.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MOD · 16th c.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Temple records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Temple records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1828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TELANGANA · 12 DEITIES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ECE3"/>
                </a:solidFill>
                <a:latin typeface="Calibri"/>
              </a:rPr>
              <a:t>Telangana: Two-Level Absorption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1463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9880"/>
                </a:solidFill>
                <a:latin typeface="Calibri"/>
              </a:rPr>
              <a:t>9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68680"/>
            <a:ext cx="11365992" cy="457200"/>
          </a:xfrm>
          <a:prstGeom prst="rect">
            <a:avLst/>
          </a:prstGeom>
          <a:solidFill>
            <a:srgbClr val="1A1528"/>
          </a:solidFill>
          <a:ln w="635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8961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8FD0"/>
                </a:solidFill>
                <a:latin typeface="Calibri"/>
              </a:rPr>
              <a:t>TWO-LEVEL ABSORPTION: Same deity (Pochamma) = absorbed at big temple, not absorbed at village shrine 2km away.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41732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B8A0"/>
                </a:solidFill>
                <a:latin typeface="Calibri"/>
              </a:rPr>
              <a:t>TEMPLE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4173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805A"/>
                </a:solidFill>
                <a:latin typeface="Calibri"/>
              </a:rPr>
              <a:t>VILLAGE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19072"/>
            <a:ext cx="5394960" cy="347472"/>
          </a:xfrm>
          <a:prstGeom prst="rect">
            <a:avLst/>
          </a:prstGeom>
          <a:solidFill>
            <a:srgbClr val="1A1528"/>
          </a:solidFill>
          <a:ln w="6350">
            <a:solidFill>
              <a:srgbClr val="40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719072"/>
            <a:ext cx="5788152" cy="347472"/>
          </a:xfrm>
          <a:prstGeom prst="rect">
            <a:avLst/>
          </a:prstGeom>
          <a:solidFill>
            <a:srgbClr val="1A1528"/>
          </a:solidFill>
          <a:ln w="6350">
            <a:solidFill>
              <a:srgbClr val="E88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783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B8A0"/>
                </a:solidFill>
                <a:latin typeface="Calibri"/>
              </a:rPr>
              <a:t>Brahmin or OBC priest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805A"/>
                </a:solidFill>
                <a:latin typeface="Calibri"/>
              </a:rPr>
              <a:t>No permanent priest — village elder/woman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121408"/>
            <a:ext cx="5394960" cy="347472"/>
          </a:xfrm>
          <a:prstGeom prst="rect">
            <a:avLst/>
          </a:prstGeom>
          <a:solidFill>
            <a:srgbClr val="1A1528"/>
          </a:solidFill>
          <a:ln w="6350">
            <a:solidFill>
              <a:srgbClr val="40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2121408"/>
            <a:ext cx="5788152" cy="347472"/>
          </a:xfrm>
          <a:prstGeom prst="rect">
            <a:avLst/>
          </a:prstGeom>
          <a:solidFill>
            <a:srgbClr val="1A1528"/>
          </a:solidFill>
          <a:ln w="6350">
            <a:solidFill>
              <a:srgbClr val="E88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185415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B8A0"/>
                </a:solidFill>
                <a:latin typeface="Calibri"/>
              </a:rPr>
              <a:t>Sanskrit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185415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805A"/>
                </a:solidFill>
                <a:latin typeface="Calibri"/>
              </a:rPr>
              <a:t>Oral folk name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523744"/>
            <a:ext cx="5394960" cy="347472"/>
          </a:xfrm>
          <a:prstGeom prst="rect">
            <a:avLst/>
          </a:prstGeom>
          <a:solidFill>
            <a:srgbClr val="1A1528"/>
          </a:solidFill>
          <a:ln w="6350">
            <a:solidFill>
              <a:srgbClr val="40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2523744"/>
            <a:ext cx="5788152" cy="347472"/>
          </a:xfrm>
          <a:prstGeom prst="rect">
            <a:avLst/>
          </a:prstGeom>
          <a:solidFill>
            <a:srgbClr val="1A1528"/>
          </a:solidFill>
          <a:ln w="6350">
            <a:solidFill>
              <a:srgbClr val="E88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587751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B8A0"/>
                </a:solidFill>
                <a:latin typeface="Calibri"/>
              </a:rPr>
              <a:t>Temple building with icon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587751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805A"/>
                </a:solidFill>
                <a:latin typeface="Calibri"/>
              </a:rPr>
              <a:t>Spot, tree, or rock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926080"/>
            <a:ext cx="5394960" cy="347472"/>
          </a:xfrm>
          <a:prstGeom prst="rect">
            <a:avLst/>
          </a:prstGeom>
          <a:solidFill>
            <a:srgbClr val="1A1528"/>
          </a:solidFill>
          <a:ln w="6350">
            <a:solidFill>
              <a:srgbClr val="40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89320" y="2926080"/>
            <a:ext cx="5788152" cy="347472"/>
          </a:xfrm>
          <a:prstGeom prst="rect">
            <a:avLst/>
          </a:prstGeom>
          <a:solidFill>
            <a:srgbClr val="1A1528"/>
          </a:solidFill>
          <a:ln w="6350">
            <a:solidFill>
              <a:srgbClr val="E88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9900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B8A0"/>
                </a:solidFill>
                <a:latin typeface="Calibri"/>
              </a:rPr>
              <a:t>Linked to Kali/Durga/Devi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990088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805A"/>
                </a:solidFill>
                <a:latin typeface="Calibri"/>
              </a:rPr>
              <a:t>No mediation from Brahminical texts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33649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5EA7"/>
                </a:solidFill>
                <a:latin typeface="Calibri"/>
              </a:rPr>
              <a:t>PARTIALLY / MARGINALLY ABSORBED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657600"/>
            <a:ext cx="11365992" cy="402336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70332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5EA7"/>
                </a:solidFill>
                <a:latin typeface="Calibri"/>
              </a:rPr>
              <a:t>Pochamma/Poleramma/Ellamma/Peddamma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7033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8FD0"/>
                </a:solidFill>
                <a:latin typeface="Calibri"/>
              </a:rPr>
              <a:t>PARTIAL [MOD]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3703320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0ECE3"/>
                </a:solidFill>
                <a:latin typeface="Calibri"/>
              </a:rPr>
              <a:t>Village priest-less; big temples Brahmin/OBC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114800"/>
            <a:ext cx="11365992" cy="402336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16052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5EA7"/>
                </a:solidFill>
                <a:latin typeface="Calibri"/>
              </a:rPr>
              <a:t>Danteshwari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1605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8FD0"/>
                </a:solidFill>
                <a:latin typeface="Calibri"/>
              </a:rPr>
              <a:t>MARGINAL [MOD]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160520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0ECE3"/>
                </a:solidFill>
                <a:latin typeface="Calibri"/>
              </a:rPr>
              <a:t>State goddess 2001; tribal ritual core preserved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572000"/>
            <a:ext cx="11365992" cy="402336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61772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5EA7"/>
                </a:solidFill>
                <a:latin typeface="Calibri"/>
              </a:rPr>
              <a:t>Budhadeo/Bada Deo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46177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8FD0"/>
                </a:solidFill>
                <a:latin typeface="Calibri"/>
              </a:rPr>
              <a:t>PARTIAL [MOD]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617720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0ECE3"/>
                </a:solidFill>
                <a:latin typeface="Calibri"/>
              </a:rPr>
              <a:t>Sanskritization overlay; tribal worship dominant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084064"/>
            <a:ext cx="11365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9880"/>
                </a:solidFill>
                <a:latin typeface="Calibri"/>
              </a:rPr>
              <a:t>MINIMALLY: Kolam, Mathura, Manne, Naikpod [LOW] · Konda Dokka Sunkulamma (Konda Savaras) [LOW-MOD]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1828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TELANGANA · ACTIVE RESISTANCE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ECE3"/>
                </a:solidFill>
                <a:latin typeface="Calibri"/>
              </a:rPr>
              <a:t>Gond Persa Pen — Formless Clan Deity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1463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9880"/>
                </a:solidFill>
                <a:latin typeface="Calibri"/>
              </a:rPr>
              <a:t>10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68680"/>
            <a:ext cx="11365992" cy="594360"/>
          </a:xfrm>
          <a:prstGeom prst="rect">
            <a:avLst/>
          </a:prstGeom>
          <a:solidFill>
            <a:srgbClr val="201210"/>
          </a:solidFill>
          <a:ln w="6350">
            <a:solidFill>
              <a:srgbClr val="C8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89611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805A"/>
                </a:solidFill>
                <a:latin typeface="Calibri"/>
              </a:rPr>
              <a:t>SINGLE MOST IMPORTANT RESISTANCE CASE: Gond communities in Adilabad (Telangana), Odisha, MP worship a deity explicitly, politically, collectively NOT a Hindu god.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572768"/>
            <a:ext cx="11365992" cy="420624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367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85030"/>
                </a:solidFill>
                <a:latin typeface="Calibri"/>
              </a:rPr>
              <a:t>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636776"/>
            <a:ext cx="9464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CE3"/>
                </a:solidFill>
                <a:latin typeface="Calibri"/>
              </a:rPr>
              <a:t>Persa Pen — Gondi: persa=god/divine; pen=clan. 'The clan's own god'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048256"/>
            <a:ext cx="11365992" cy="420624"/>
          </a:xfrm>
          <a:prstGeom prst="rect">
            <a:avLst/>
          </a:prstGeom>
          <a:solidFill>
            <a:srgbClr val="1A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122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85030"/>
                </a:solidFill>
                <a:latin typeface="Calibri"/>
              </a:rPr>
              <a:t>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112264"/>
            <a:ext cx="9464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805A"/>
                </a:solidFill>
                <a:latin typeface="Calibri"/>
              </a:rPr>
              <a:t>FORMLESS. No idol. No temple. Ever.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523744"/>
            <a:ext cx="11365992" cy="420624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58775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85030"/>
                </a:solidFill>
                <a:latin typeface="Calibri"/>
              </a:rPr>
              <a:t>Sacred object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587751"/>
            <a:ext cx="9464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CE3"/>
                </a:solidFill>
                <a:latin typeface="Calibri"/>
              </a:rPr>
              <a:t>Sacred wooden pillar — called kamk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999232"/>
            <a:ext cx="11365992" cy="420624"/>
          </a:xfrm>
          <a:prstGeom prst="rect">
            <a:avLst/>
          </a:prstGeom>
          <a:solidFill>
            <a:srgbClr val="1A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063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85030"/>
                </a:solidFill>
                <a:latin typeface="Calibri"/>
              </a:rPr>
              <a:t>Worship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063240"/>
            <a:ext cx="9464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CE3"/>
                </a:solidFill>
                <a:latin typeface="Calibri"/>
              </a:rPr>
              <a:t>Oral tradition, trance, ritual dance; Gond tribal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474720"/>
            <a:ext cx="11365992" cy="420624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538727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85030"/>
                </a:solidFill>
                <a:latin typeface="Calibri"/>
              </a:rPr>
              <a:t>Priesthood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3538727"/>
            <a:ext cx="9464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CE3"/>
                </a:solidFill>
                <a:latin typeface="Calibri"/>
              </a:rPr>
              <a:t>Gond — men and women equally; no Brahmin mediation ever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950208"/>
            <a:ext cx="11365992" cy="420624"/>
          </a:xfrm>
          <a:prstGeom prst="rect">
            <a:avLst/>
          </a:prstGeom>
          <a:solidFill>
            <a:srgbClr val="1A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014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85030"/>
                </a:solidFill>
                <a:latin typeface="Calibri"/>
              </a:rPr>
              <a:t>Active refusal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014216"/>
            <a:ext cx="9464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805A"/>
                </a:solidFill>
                <a:latin typeface="Calibri"/>
              </a:rPr>
              <a:t>Gond elders explicitly refuse integration with Shiva/Baradeo. TWRI-documented.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425696"/>
            <a:ext cx="11365992" cy="420624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4897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85030"/>
                </a:solidFill>
                <a:latin typeface="Calibri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4489704"/>
            <a:ext cx="9464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CE3"/>
                </a:solidFill>
                <a:latin typeface="Calibri"/>
              </a:rPr>
              <a:t>TWRI field documentation; oral tradition. HIGH as resistance case.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901184"/>
            <a:ext cx="11365992" cy="420624"/>
          </a:xfrm>
          <a:prstGeom prst="rect">
            <a:avLst/>
          </a:prstGeom>
          <a:solidFill>
            <a:srgbClr val="1A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651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85030"/>
                </a:solidFill>
                <a:latin typeface="Calibri"/>
              </a:rPr>
              <a:t>Why different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4965192"/>
            <a:ext cx="9464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CE3"/>
                </a:solidFill>
                <a:latin typeface="Calibri"/>
              </a:rPr>
              <a:t>Active refusal vs passive survival: communities APPROACHED by Hinduization and REFUSED collectively.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1828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TELANGANA · VERIFICATION PENDING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ECE3"/>
                </a:solidFill>
                <a:latin typeface="Calibri"/>
              </a:rPr>
              <a:t>Samakka Sarakka — Lambadi/Banjara Tribal Tradition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1463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9880"/>
                </a:solidFill>
                <a:latin typeface="Calibri"/>
              </a:rPr>
              <a:t>11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68680"/>
            <a:ext cx="11365992" cy="457200"/>
          </a:xfrm>
          <a:prstGeom prst="rect">
            <a:avLst/>
          </a:prstGeom>
          <a:solidFill>
            <a:srgbClr val="1A1528"/>
          </a:solidFill>
          <a:ln w="635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8961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8FD0"/>
                </a:solidFill>
                <a:latin typeface="Calibri"/>
              </a:rPr>
              <a:t>NOTE: NotebookLM deep research into notebook e08f258a-3008-411a-a963-79ff20a6ddf9. Sources being imported. Full profiles pending verification.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11365992" cy="411480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72184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ECE3"/>
                </a:solidFill>
                <a:latin typeface="Calibri"/>
              </a:rPr>
              <a:t>• Samakka Sarakka Jatra: major annual tribal festival in Telangana — largest Lambadi/Banjara gatherings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92808"/>
            <a:ext cx="11365992" cy="411480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4767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ECE3"/>
                </a:solidFill>
                <a:latin typeface="Calibri"/>
              </a:rPr>
              <a:t>• Associated with Lambadi / Banjara community — pastoral, historically nomadic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368296"/>
            <a:ext cx="11365992" cy="411480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2316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ECE3"/>
                </a:solidFill>
                <a:latin typeface="Calibri"/>
              </a:rPr>
              <a:t>• Deities appear to be a mother-daughter or elder-younger goddess pair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843784"/>
            <a:ext cx="11365992" cy="411480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98648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ECE3"/>
                </a:solidFill>
                <a:latin typeface="Calibri"/>
              </a:rPr>
              <a:t>• Pre-Hindu, oral-origin tradition; Sanskritization overlays at peripheral temple sites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319272"/>
            <a:ext cx="11365992" cy="411480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74136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ECE3"/>
                </a:solidFill>
                <a:latin typeface="Calibri"/>
              </a:rPr>
              <a:t>• "Madhya Kalpakam": Telugu ritual procedure text — not yet translated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794760"/>
            <a:ext cx="11365992" cy="411480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849624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ECE3"/>
                </a:solidFill>
                <a:latin typeface="Calibri"/>
              </a:rPr>
              <a:t>• The Jatra (fair/festival): major community ritual with collective observance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315968"/>
            <a:ext cx="11365992" cy="640080"/>
          </a:xfrm>
          <a:prstGeom prst="rect">
            <a:avLst/>
          </a:prstGeom>
          <a:solidFill>
            <a:srgbClr val="1E1628"/>
          </a:solidFill>
          <a:ln w="635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708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8FD0"/>
                </a:solidFill>
                <a:latin typeface="Calibri"/>
              </a:rPr>
              <a:t>STATUS: Full profiles, Sanskritization paths, evidence quality documented once NotebookLM sources imported. Notebook: e08f258a-3008-411a-a963-79ff20a6ddf9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1828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JHARKHAND · EXTENDED DRAVIDIAN BELT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ECE3"/>
                </a:solidFill>
                <a:latin typeface="Calibri"/>
              </a:rPr>
              <a:t>Sarna Religion — India's Most Clearly Unabsorbed Tribal Religion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1463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9880"/>
                </a:solidFill>
                <a:latin typeface="Calibri"/>
              </a:rPr>
              <a:t>12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68680"/>
            <a:ext cx="11365992" cy="530352"/>
          </a:xfrm>
          <a:prstGeom prst="rect">
            <a:avLst/>
          </a:prstGeom>
          <a:solidFill>
            <a:srgbClr val="102522"/>
          </a:solidFill>
          <a:ln w="6350">
            <a:solidFill>
              <a:srgbClr val="2A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896112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B8A0"/>
                </a:solidFill>
                <a:latin typeface="Calibri"/>
              </a:rPr>
              <a:t>SARNA is India's most clearly defined non-absorbed tribal religion. Named identity, separate census, sacred grove theology, active political assertion. Oraon, Munda, Santal choose Sarna in census.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4813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5EA7"/>
                </a:solidFill>
                <a:latin typeface="Calibri"/>
              </a:rPr>
              <a:t>SARNA THEOLOGY — JAHER THAN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73936"/>
            <a:ext cx="2743200" cy="347472"/>
          </a:xfrm>
          <a:prstGeom prst="rect">
            <a:avLst/>
          </a:prstGeom>
          <a:solidFill>
            <a:srgbClr val="1A1528"/>
          </a:solidFill>
          <a:ln w="6350">
            <a:solidFill>
              <a:srgbClr val="2A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2880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0B8A0"/>
                </a:solidFill>
                <a:latin typeface="Calibri"/>
              </a:rPr>
              <a:t>Jaher Than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82880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CE3"/>
                </a:solidFill>
                <a:latin typeface="Calibri"/>
              </a:rPr>
              <a:t>Sacred grove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828800"/>
            <a:ext cx="4599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9880"/>
                </a:solidFill>
                <a:latin typeface="Calibri"/>
              </a:rPr>
              <a:t>Nature-worship; not a building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176272"/>
            <a:ext cx="2743200" cy="347472"/>
          </a:xfrm>
          <a:prstGeom prst="rect">
            <a:avLst/>
          </a:prstGeom>
          <a:solidFill>
            <a:srgbClr val="1A1528"/>
          </a:solidFill>
          <a:ln w="6350">
            <a:solidFill>
              <a:srgbClr val="2A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23113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0B8A0"/>
                </a:solidFill>
                <a:latin typeface="Calibri"/>
              </a:rPr>
              <a:t>Singbonga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231136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CE3"/>
                </a:solidFill>
                <a:latin typeface="Calibri"/>
              </a:rPr>
              <a:t>Sun — core Oraon deity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31136"/>
            <a:ext cx="4599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9880"/>
                </a:solidFill>
                <a:latin typeface="Calibri"/>
              </a:rPr>
              <a:t>Distinct from Hindu solar; Pahan priest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578608"/>
            <a:ext cx="2743200" cy="347472"/>
          </a:xfrm>
          <a:prstGeom prst="rect">
            <a:avLst/>
          </a:prstGeom>
          <a:solidFill>
            <a:srgbClr val="1A1528"/>
          </a:solidFill>
          <a:ln w="6350">
            <a:solidFill>
              <a:srgbClr val="2A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3347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0B8A0"/>
                </a:solidFill>
                <a:latin typeface="Calibri"/>
              </a:rPr>
              <a:t>Gram Deota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633472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CE3"/>
                </a:solidFill>
                <a:latin typeface="Calibri"/>
              </a:rPr>
              <a:t>Village deity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633472"/>
            <a:ext cx="4599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9880"/>
                </a:solidFill>
                <a:latin typeface="Calibri"/>
              </a:rPr>
              <a:t>Distinct from Hindu grama devata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980944"/>
            <a:ext cx="2743200" cy="347472"/>
          </a:xfrm>
          <a:prstGeom prst="rect">
            <a:avLst/>
          </a:prstGeom>
          <a:solidFill>
            <a:srgbClr val="1A1528"/>
          </a:solidFill>
          <a:ln w="6350">
            <a:solidFill>
              <a:srgbClr val="2A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03580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0B8A0"/>
                </a:solidFill>
                <a:latin typeface="Calibri"/>
              </a:rPr>
              <a:t>Marang Buru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035808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CE3"/>
                </a:solidFill>
                <a:latin typeface="Calibri"/>
              </a:rPr>
              <a:t>Great Mountain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035808"/>
            <a:ext cx="4599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9880"/>
                </a:solidFill>
                <a:latin typeface="Calibri"/>
              </a:rPr>
              <a:t>Earth/nature; Santal,Munda,Oraon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383280"/>
            <a:ext cx="2743200" cy="347472"/>
          </a:xfrm>
          <a:prstGeom prst="rect">
            <a:avLst/>
          </a:prstGeom>
          <a:solidFill>
            <a:srgbClr val="1A1528"/>
          </a:solidFill>
          <a:ln w="6350">
            <a:solidFill>
              <a:srgbClr val="2A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43814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0B8A0"/>
                </a:solidFill>
                <a:latin typeface="Calibri"/>
              </a:rPr>
              <a:t>Chandi Bonga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43814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CE3"/>
                </a:solidFill>
                <a:latin typeface="Calibri"/>
              </a:rPr>
              <a:t>Warrior goddess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438144"/>
            <a:ext cx="4599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9880"/>
                </a:solidFill>
                <a:latin typeface="Calibri"/>
              </a:rPr>
              <a:t>Oraon/Munda; pre-Hindu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148132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805A"/>
                </a:solidFill>
                <a:latin typeface="Calibri"/>
              </a:rPr>
              <a:t>NOT ABSORBED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1773936"/>
            <a:ext cx="5742432" cy="347472"/>
          </a:xfrm>
          <a:prstGeom prst="rect">
            <a:avLst/>
          </a:prstGeom>
          <a:solidFill>
            <a:srgbClr val="1A1528"/>
          </a:solidFill>
          <a:ln w="6350">
            <a:solidFill>
              <a:srgbClr val="C8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4768" y="18105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8805A"/>
                </a:solidFill>
                <a:latin typeface="Calibri"/>
              </a:rPr>
              <a:t>Singbonga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181051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9880"/>
                </a:solidFill>
                <a:latin typeface="Calibri"/>
              </a:rPr>
              <a:t>[HIGH]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1975104"/>
            <a:ext cx="5532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CE3"/>
                </a:solidFill>
                <a:latin typeface="Calibri"/>
              </a:rPr>
              <a:t>Oraon sun; tribal Pahan priest.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176272"/>
            <a:ext cx="5742432" cy="347472"/>
          </a:xfrm>
          <a:prstGeom prst="rect">
            <a:avLst/>
          </a:prstGeom>
          <a:solidFill>
            <a:srgbClr val="1A1528"/>
          </a:solidFill>
          <a:ln w="6350">
            <a:solidFill>
              <a:srgbClr val="C8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44768" y="22128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8805A"/>
                </a:solidFill>
                <a:latin typeface="Calibri"/>
              </a:rPr>
              <a:t>Gram Deota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22128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9880"/>
                </a:solidFill>
                <a:latin typeface="Calibri"/>
              </a:rPr>
              <a:t>[MOD]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4768" y="2377440"/>
            <a:ext cx="5532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CE3"/>
                </a:solidFill>
                <a:latin typeface="Calibri"/>
              </a:rPr>
              <a:t>Sarna grove deity; distinct.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578608"/>
            <a:ext cx="5742432" cy="347472"/>
          </a:xfrm>
          <a:prstGeom prst="rect">
            <a:avLst/>
          </a:prstGeom>
          <a:solidFill>
            <a:srgbClr val="1A1528"/>
          </a:solidFill>
          <a:ln w="6350">
            <a:solidFill>
              <a:srgbClr val="C8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44768" y="261518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8805A"/>
                </a:solidFill>
                <a:latin typeface="Calibri"/>
              </a:rPr>
              <a:t>Chandi Bonga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261518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9880"/>
                </a:solidFill>
                <a:latin typeface="Calibri"/>
              </a:rPr>
              <a:t>[LOW]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44768" y="2779776"/>
            <a:ext cx="5532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CE3"/>
                </a:solidFill>
                <a:latin typeface="Calibri"/>
              </a:rPr>
              <a:t>Oraon/Munda warrior goddess.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3822191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5EA7"/>
                </a:solidFill>
                <a:latin typeface="Calibri"/>
              </a:rPr>
              <a:t>HISTORICAL MOVEMENTS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4133087"/>
            <a:ext cx="11365992" cy="411480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178807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5EA7"/>
                </a:solidFill>
                <a:latin typeface="Calibri"/>
              </a:rPr>
              <a:t>Birsa Munda (1875–1900)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4178807"/>
            <a:ext cx="8366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CE3"/>
                </a:solidFill>
                <a:latin typeface="Calibri"/>
              </a:rPr>
              <a:t>Religious revival; tribal identity vs colonial+Christian+Hindu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4608575"/>
            <a:ext cx="11365992" cy="411480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4654295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5EA7"/>
                </a:solidFill>
                <a:latin typeface="Calibri"/>
              </a:rPr>
              <a:t>Tana Bhagat (1914–)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4654295"/>
            <a:ext cx="8366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CE3"/>
                </a:solidFill>
                <a:latin typeface="Calibri"/>
              </a:rPr>
              <a:t>Oraon reform; refused taxes/alcohol/witchcraft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5084064"/>
            <a:ext cx="11365992" cy="411480"/>
          </a:xfrm>
          <a:prstGeom prst="rect">
            <a:avLst/>
          </a:prstGeom>
          <a:solidFill>
            <a:srgbClr val="1A1528"/>
          </a:solidFill>
          <a:ln w="6350">
            <a:solidFill>
              <a:srgbClr val="3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129783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5EA7"/>
                </a:solidFill>
                <a:latin typeface="Calibri"/>
              </a:rPr>
              <a:t>Jharkhand movement (1930s+)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5129783"/>
            <a:ext cx="8366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CE3"/>
                </a:solidFill>
                <a:latin typeface="Calibri"/>
              </a:rPr>
              <a:t>Sarna declared distinct; Oraon activists led declaration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1828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MAHARASHTRA + ODISHA/CHHATTISGARH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ECE3"/>
                </a:solidFill>
                <a:latin typeface="Calibri"/>
              </a:rPr>
              <a:t>Maharashtra Pastoral Belt &amp; Odisha Gond Belt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1463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9880"/>
                </a:solidFill>
                <a:latin typeface="Calibri"/>
              </a:rPr>
              <a:t>13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86868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5EA7"/>
                </a:solidFill>
                <a:latin typeface="Calibri"/>
              </a:rPr>
              <a:t>MAHARASHTRA PASTORAL DEITIES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143000"/>
          <a:ext cx="5669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914400"/>
                <a:gridCol w="1737360"/>
              </a:tblGrid>
              <a:tr h="39624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Deity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Sanskritized As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Khandoba (Jejuri)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Khandoba (Jejuri)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Martanda Bhairava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Martanda Bhairava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ABSORBED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ABSORBED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 · 12th c. inscriptions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HIGH · 12th c. inscriptions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Jotiba (Kolhapur)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Jotiba (Kolhapur)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Jotirlinga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Jotirlinga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ABSORBED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ABSORBED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MOD · mixed priesthood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MOD · mixed priesthood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Biroba (Dhangar)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Biroba (Dhangar)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Form of Shiva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Form of Shiva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ABSORBED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ABSORBED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MOD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MOD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Vithoba (Varkari)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Vithoba (Varkari)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Vaishnava — democratized from below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Vaishnava — democratized from below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DEMOCRATIZED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DEMOCRATIZED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 · Marathi abhangs; pan-caste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HIGH · Marathi abhangs; pan-caste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Mhasoba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Mhasoba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Shiva/local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Shiva/local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PARTIAL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LOW-MOD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LOW-MOD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3611880"/>
            <a:ext cx="5669280" cy="804672"/>
          </a:xfrm>
          <a:prstGeom prst="rect">
            <a:avLst/>
          </a:prstGeom>
          <a:solidFill>
            <a:srgbClr val="18100A"/>
          </a:solidFill>
          <a:ln w="6350">
            <a:solidFill>
              <a:srgbClr val="C8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6576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8805A"/>
                </a:solidFill>
                <a:latin typeface="Calibri"/>
              </a:rPr>
              <a:t>VARKARI EXCEPTION: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95344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CE3"/>
                </a:solidFill>
                <a:latin typeface="Calibri"/>
              </a:rPr>
              <a:t>Sant Tukaram &amp; Eknath (13th–16th c.): devotional FROM BELOW — Marathi abhangs, all castes. Democratization from below, not Sanskritization.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868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5EA7"/>
                </a:solidFill>
                <a:latin typeface="Calibri"/>
              </a:rPr>
              <a:t>ODISHA / CHHATTISGARH GOND BELT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09360" y="1143000"/>
          <a:ext cx="546811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914400"/>
                <a:gridCol w="1536192"/>
              </a:tblGrid>
              <a:tr h="39624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Deity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Sanskritized As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Danteshwari (Bastar)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Danteshwari (Bastar)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Hindu — tribal form preserved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Hindu — tribal form preserved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MARGINAL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MARGINAL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MOD · state goddess 2001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MOD · state goddess 2001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Budhadeo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Budhadeo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Hindu umbrella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Hindu umbrella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PARTIAL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MOD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MOD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Bada Deo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Bada Deo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PARTIAL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Lingal (Maria Gond)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Lingal (Maria Gond)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 ABSORBED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NOT ABSORBED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Kupar Lingo (Dorla)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Kupar Lingo (Dorla)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 ABSORBED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NOT ABSORBED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309360" y="3611880"/>
            <a:ext cx="54681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9880"/>
                </a:solidFill>
                <a:latin typeface="Calibri"/>
              </a:rPr>
              <a:t>Gondi: Central Dravidian. Gond belt spans Odisha, Chhattisgarh, MP, Telangana, Maharashtra — a Dravidian-speaking zone distinct from Indo-Aryan Maharashtra and Odisha.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1828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ECE3"/>
                </a:solidFill>
                <a:latin typeface="Calibri"/>
              </a:rPr>
              <a:t>The 4 Strongest Resistance Counter-Cases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1463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9880"/>
                </a:solidFill>
                <a:latin typeface="Calibri"/>
              </a:rPr>
              <a:t>14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868680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9880"/>
                </a:solidFill>
                <a:latin typeface="Calibri"/>
              </a:rPr>
              <a:t>These 4 cases prove Sanskritization was NOT uniform, inevitable, or total.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170432"/>
          <a:ext cx="1136599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280160"/>
                <a:gridCol w="1280160"/>
                <a:gridCol w="6153912"/>
                <a:gridCol w="1188720"/>
              </a:tblGrid>
              <a:tr h="100584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Tradition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What Makes It Resist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Lingayat / Vīraśaiva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Lingayat / Vīraśaiva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Karnataka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Karnataka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ACTIVE REFORM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ACTIVE REFORM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Basaveshwara 1131–1167: portable īṣṭaliṅga, Kannada scripture, open priesthood, rejected Brahminical authority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Basaveshwara 1131–1167: portable īṣṭaliṅga, Kannada scripture, open priesthood, rejected Brahminical authority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Gond Persa Pen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Gond Persa Pen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Telangana/Odisha/MP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Telangana/Odisha/MP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ACTIVE POLITICAL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ACTIVE POLITICAL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Formless; no idol; kamk pillar; Gond elders explicitly refuse integration with Shiva/Baradeo; TWRI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Formless; no idol; kamk pillar; Gond elders explicitly refuse integration with Shiva/Baradeo; TWRI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Sarna Religion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Sarna Religion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Jharkhand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Jharkhand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NAMED DISTINCT RELIGION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NAMED DISTINCT RELIGION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Separate census; sacred grove (Jaher Than); Birsa Munda 1875–1900; Oraon/Munda/Santal choose Sarna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Separate census; sacred grove (Jaher Than); Birsa Munda 1875–1900; Oraon/Munda/Santal choose Sarna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Muthappan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Muthappan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Kerala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Kerala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EXCLUSION PRESERVATION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EXCLUSION PRESERVATION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 idol; no kodimaram; toddy/fish/flesh; inclusive of ALL religions; Thiyyar-only; 17th c. temple, ritual unchanged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No idol; no kodimaram; toddy/fish/flesh; inclusive of ALL religions; Thiyyar-only; 17th c. temple, ritual unchanged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MOD-HIGH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MOD-HIGH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1828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LIVE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ECE3"/>
                </a:solidFill>
                <a:latin typeface="Calibri"/>
              </a:rPr>
              <a:t>Modern Desanskritization Movements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1463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9880"/>
                </a:solidFill>
                <a:latin typeface="Calibri"/>
              </a:rPr>
              <a:t>15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868680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9880"/>
                </a:solidFill>
                <a:latin typeface="Calibri"/>
              </a:rPr>
              <a:t>Already-Sanskritized traditions being actively pushed back from within or below.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170432"/>
          <a:ext cx="11365992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4114800"/>
                <a:gridCol w="4690872"/>
              </a:tblGrid>
              <a:tr h="75764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Movement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What Changed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t>Periyarist rationalism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Periyarist rationalism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Tamil Nadu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Tamil Nadu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Public sacred thread burns; anti-temple; invited Ambedkar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Public sacred thread burns; anti-temple; invited Ambedkar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Dravidian nationalists reduced folk-deity observance; rural survives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Dravidian nationalists reduced folk-deity observance; rural survives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t>DMK Tamil-only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DMK Tamil-only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Tamil Nadu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Tamil Nadu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Temples framed as North Indian imposition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Temples framed as North Indian imposition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Mariamman/Ayyanar reframed as Tamil-only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Mariamman/Ayyanar reframed as Tamil-only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t>Ambedkar Buddhism (1956)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Ambedkar Buddhism (1956)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MH,TN,KA,National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MH,TN,KA,National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500k+ to Navayana Buddhism; rejected Brahminical hierarchy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500k+ to Navayana Buddhism; rejected Brahminical hierarchy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Dalits reject folk-deity as Brahminical contamination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Dalits reject folk-deity as Brahminical contamination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t>Varkari (13th–18th c.)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Varkari (13th–18th c.)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Maharashtra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Maharashtra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Sant Tukaram &amp; Eknath: pan-caste Marathi devotional; abhangs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Sant Tukaram &amp; Eknath: pan-caste Marathi devotional; abhangs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DEMOCRATIZED FROM BELOW — lower castes on their terms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DEMOCRATIZED FROM BELOW — lower castes on their terms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t>Sarna assertion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Sarna assertion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Jharkhand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Jharkhand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1930s Oraon; separate census; Birsa Munda 1875–1900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1930s Oraon; separate census; Birsa Munda 1875–1900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Gond/Oraon/Santal refuse Hindu absorption; ongoing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Gond/Oraon/Santal refuse Hindu absorption; ongoing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r>
                        <a:t>Theyyam revivalism (1990s–present)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Theyyam revivalism (1990s–present)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Kerala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Kerala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Thiyyar asserting pre-Hindu indigenous religion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Thiyyar asserting pre-Hindu indigenous religion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Theyyam temples promoting non-Hindu identity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Theyyam temples promoting non-Hindu identity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1828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ECE3"/>
                </a:solidFill>
                <a:latin typeface="Calibri"/>
              </a:rPr>
              <a:t>6 Genuine Pure Survivals — Zero or Near-Zero Sanskritization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1463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9880"/>
                </a:solidFill>
                <a:latin typeface="Calibri"/>
              </a:rPr>
              <a:t>16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868680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9880"/>
                </a:solidFill>
                <a:latin typeface="Calibri"/>
              </a:rPr>
              <a:t>Pre-Brahminical form genuinely intact — measurably untouched, not just 'largely unabsorbed'.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170432"/>
          <a:ext cx="1136599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6885432"/>
                <a:gridCol w="1737360"/>
              </a:tblGrid>
              <a:tr h="718457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Deity / Tradition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Why Genuinely Intact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r>
                        <a:t>Gond Persa Pen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Gond Persa Pen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Telangana/Odisha/MP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Telangana/Odisha/MP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 idol/temple; kamk pillar only; explicit political refusal; TWRI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No idol/temple; kamk pillar only; explicit political refusal; TWRI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r>
                        <a:t>Muthappan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Muthappan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Kerala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Kerala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 idol/kodimaram; toddy/fish/flesh; all religions inclusive; Thiyyar-only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No idol/kodimaram; toddy/fish/flesh; all religions inclusive; Thiyyar-only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MOD-HIGH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MOD-HIGH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r>
                        <a:t>Theyyam (~456 types)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Theyyam (~456 types)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Kerala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Kerala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Thiyyar full autonomy; blood/toddy/trance; Brahmins relinquished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Thiyyar full autonomy; blood/toddy/trance; Brahmins relinquished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 (ethnographic)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HIGH (ethnographic)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r>
                        <a:t>Sarna Religion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Sarna Religion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Jharkhand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Jharkhand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Named distinct religion; separate census; sacred grove; active movement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Named distinct religion; separate census; sacred grove; active movement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r>
                        <a:t>Gond Danteshwari (tribal)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Gond Danteshwari (tribal)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Odisha/Chhattisgarh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Odisha/Chhattisgarh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State goddess but tribal ritual; tribal priest; communities maintain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State goddess but tribal ritual; tribal priest; communities maintain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MOD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MOD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r>
                        <a:t>Lingayat / Vīraśaiva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Lingayat / Vīraśaiva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Karnataka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Karnataka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Actively rejected Brahminical Hinduism; own tradition; separate census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Actively rejected Brahminical Hinduism; own tradition; separate census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1828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RESEARCH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ECE3"/>
                </a:solidFill>
                <a:latin typeface="Calibri"/>
              </a:rPr>
              <a:t>Open Questions — Primary Source Investigation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1463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9880"/>
                </a:solidFill>
                <a:latin typeface="Calibri"/>
              </a:rPr>
              <a:t>17 / 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868680"/>
          <a:ext cx="1136599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6062472"/>
                <a:gridCol w="5029200"/>
              </a:tblGrid>
              <a:tr h="508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1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Samakka Sarakka — Full profiles pending NotebookLM import. Madhya Kalpakam needs Telugu analysis.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Samakka Sarakka — Full profiles pending NotebookLM import. Madhya Kalpakam needs Telugu analysis.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Your specific call-out; Lambadi/Banjara; not yet fully documented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Your specific call-out; Lambadi/Banjara; not yet fully documented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2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Padmanabhapuram 855 CE inscription — Was Sastha independent or subordinate?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Padmanabhapuram 855 CE inscription — Was Sastha independent or subordinate?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Ayyappan tribal origin dispute hinges on this inscription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Ayyappan tribal origin dispute hinges on this inscription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3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Theyyam 456-type typology — Kurup documentation not fully digitized.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Theyyam 456-type typology — Kurup documentation not fully digitized.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Complete pantheon not synthesized in accessible format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Complete pantheon not synthesized in accessible format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4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Chenchu deity names — K. Satyagopal Nallamala fieldwork not yet published.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Chenchu deity names — K. Satyagopal Nallamala fieldwork not yet published.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Forest-tribe deity record incomplete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Forest-tribe deity record incomplete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5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Konda Savara deities — Thurston (1909) not synthesized in modern format.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Konda Savara deities — Thurston (1909) not synthesized in modern format.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Colonial-era data never properly modernized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Colonial-era data never properly modernized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6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Telangana Grama Devata per-village survey — not published.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Telangana Grama Devata per-village survey — not published.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Two-level absorption pattern needs formal documentation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Two-level absorption pattern needs formal documentation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7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Ayyappan tribal origin — Gurukkal &amp; Narayanan rebuttal needs systematic review.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Ayyappan tribal origin — Gurukkal &amp; Narayanan rebuttal needs systematic review.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Disputed claim keeps appearing without rebuttal cited</a:t>
                      </a:r>
                      <a:r>
                        <a:rPr sz="800">
                          <a:solidFill>
                            <a:srgbClr val="F0ECE3"/>
                          </a:solidFill>
                          <a:latin typeface="Calibri"/>
                        </a:rPr>
                        <a:t>Disputed claim keeps appearing without rebuttal cited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8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Kattunayakan deity names — Many lost since Thurston 1909.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Kattunayakan deity names — Many lost since Thurston 1909.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Pre-Hindu shamanic tradition disappearing</a:t>
                      </a:r>
                      <a:r>
                        <a:rPr sz="800">
                          <a:solidFill>
                            <a:srgbClr val="D0CCBC"/>
                          </a:solidFill>
                          <a:latin typeface="Calibri"/>
                        </a:rPr>
                        <a:t>Pre-Hindu shamanic tradition disappearing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5532120"/>
            <a:ext cx="11365992" cy="640080"/>
          </a:xfrm>
          <a:prstGeom prst="rect">
            <a:avLst/>
          </a:prstGeom>
          <a:solidFill>
            <a:srgbClr val="1A1528"/>
          </a:solidFill>
          <a:ln w="635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5778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8FD0"/>
                </a:solidFill>
                <a:latin typeface="Calibri"/>
              </a:rPr>
              <a:t>HISTORY-WATCHDOG: Expand Scout queries — (a) Padmanabhapuram 855 CE, (b) Danteshwari tribal ritual, (c) Sarna census data, (d) Varkari demographics.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1828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ECE3"/>
                </a:solidFill>
                <a:latin typeface="Calibri"/>
              </a:rPr>
              <a:t>Key Academic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1463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9880"/>
                </a:solidFill>
                <a:latin typeface="Calibri"/>
              </a:rPr>
              <a:t>18 / 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868680"/>
          <a:ext cx="1136599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640080"/>
                <a:gridCol w="5879592"/>
              </a:tblGrid>
              <a:tr h="512064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Author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7B5EA7"/>
                          </a:solidFill>
                          <a:latin typeface="Calibri"/>
                        </a:rPr>
                        <a:t>Relevance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M.N. Srinivas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M.N. Srinivas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Religion and Society Among the Coorgs of South India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Religion and Society Among the Coorgs of South India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1952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1952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Sanskritization concept — anchor for entire framework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Sanskritization concept — anchor for entire framework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Günther-Dietz Sontheimer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Günther-Dietz Sontheimer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Pastoral Deities in Western India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Pastoral Deities in Western India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1989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1989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Khandoba, Bhuta Kola, Dhangar; primary fieldwork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Khandoba, Bhuta Kola, Dhangar; primary fieldwork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R.C. Dhere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R.C. Dhere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The Rise of a Folk God: Vitthal or Vithoba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The Rise of a Folk God: Vitthal or Vithoba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1984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1984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Varkari; Vithoba; dual-track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Varkari; Vithoba; dual-track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K.K.N. Kurup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K.K.N. Kurup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Theyyam (anthropological)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Theyyam (anthropological)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Various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Various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456-type pantheon; ethnographic fieldwork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456-type pantheon; ethnographic fieldwork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Edgar Thurston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Edgar Thurston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Castes and Tribes of Southern India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Castes and Tribes of Southern India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1909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1909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Foundational colonial survey; tribal deity inventory; colonial bias but irreplaceable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Foundational colonial survey; tribal deity inventory; colonial bias but irreplaceable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Bridget &amp; Raymond Alchin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Bridget &amp; Raymond Alchin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The Birth of Indian Civilization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The Birth of Indian Civilization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Various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Various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Theyyam antiquity; Neolithic/Chalcolithic origins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Theyyam antiquity; Neolithic/Chalcolithic origins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Johannes Bronkhorst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Johannes Bronkhorst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Greater Magadha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Greater Magadha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2007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2007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Non-Vedic eastern origins; non-Aryan cultural layer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Non-Vedic eastern origins; non-Aryan cultural layer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Romila Thapar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Romila Thapar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The Past and Prejudice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The Past and Prejudice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Various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Various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Caste origins; historiographical critique</a:t>
                      </a:r>
                      <a:r>
                        <a:rPr sz="750">
                          <a:solidFill>
                            <a:srgbClr val="D0CCBC"/>
                          </a:solidFill>
                          <a:latin typeface="Calibri"/>
                        </a:rPr>
                        <a:t>Caste origins; historiographical critique</a:t>
                      </a:r>
                    </a:p>
                  </a:txBody>
                  <a:tcPr>
                    <a:solidFill>
                      <a:srgbClr val="1E1A3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Bhadriraju Krishnamurti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Bhadriraju Krishnamurti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Dravidian Languages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Dravidian Languages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2003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2003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Language classification; Dravidian zones; Central Dravidian (Gondi) belt</a:t>
                      </a:r>
                      <a:r>
                        <a:rPr sz="750">
                          <a:solidFill>
                            <a:srgbClr val="F0ECE3"/>
                          </a:solidFill>
                          <a:latin typeface="Calibri"/>
                        </a:rPr>
                        <a:t>Language classification; Dravidian zones; Central Dravidian (Gondi) belt</a:t>
                      </a:r>
                    </a:p>
                  </a:txBody>
                  <a:tcPr>
                    <a:solidFill>
                      <a:srgbClr val="1A152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6053328"/>
            <a:ext cx="11365992" cy="411480"/>
          </a:xfrm>
          <a:prstGeom prst="rect">
            <a:avLst/>
          </a:prstGeom>
          <a:solidFill>
            <a:srgbClr val="1A1528"/>
          </a:solidFill>
          <a:ln w="635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08990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9880"/>
                </a:solidFill>
                <a:latin typeface="Calibri"/>
              </a:rPr>
              <a:t>Note: Thurston (1909) carries colonial bias. Verify tribal deity data against modern fieldwork. Sontheimer (1989) and Kurup are more reliable.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1828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ECE3"/>
                </a:solidFill>
                <a:latin typeface="Calibri"/>
              </a:rPr>
              <a:t>5 Conclusions This Atlas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1463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9880"/>
                </a:solidFill>
                <a:latin typeface="Calibri"/>
              </a:rPr>
              <a:t>19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868680"/>
            <a:ext cx="457200" cy="822960"/>
          </a:xfrm>
          <a:prstGeom prst="rect">
            <a:avLst/>
          </a:prstGeom>
          <a:solidFill>
            <a:srgbClr val="E88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69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0D1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914400"/>
            <a:ext cx="10817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805A"/>
                </a:solidFill>
                <a:latin typeface="Calibri"/>
              </a:rPr>
              <a:t>SELECTIVE, NOT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216152"/>
            <a:ext cx="10817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ECE3"/>
                </a:solidFill>
                <a:latin typeface="Calibri"/>
              </a:rPr>
              <a:t>Of 63+ traditions: ~22 fully absorbed, ~25 partially, ~15–16 genuinely resisting. Uniform Brahminical conquest is wrong.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74519"/>
            <a:ext cx="457200" cy="822960"/>
          </a:xfrm>
          <a:prstGeom prst="rect">
            <a:avLst/>
          </a:prstGeom>
          <a:solidFill>
            <a:srgbClr val="E88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75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0D1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920239"/>
            <a:ext cx="10817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805A"/>
                </a:solidFill>
                <a:latin typeface="Calibri"/>
              </a:rPr>
              <a:t>TWO DIRECTIONS OF RESISTANCE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221991"/>
            <a:ext cx="10817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ECE3"/>
                </a:solidFill>
                <a:latin typeface="Calibri"/>
              </a:rPr>
              <a:t>Passive survival explains some. But Lingayat, Gond Persa Pen, Sarna are active resistance or political assertion.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880360"/>
            <a:ext cx="457200" cy="822960"/>
          </a:xfrm>
          <a:prstGeom prst="rect">
            <a:avLst/>
          </a:prstGeom>
          <a:solidFill>
            <a:srgbClr val="4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081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0D1A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926080"/>
            <a:ext cx="10817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B8A0"/>
                </a:solidFill>
                <a:latin typeface="Calibri"/>
              </a:rPr>
              <a:t>EXCLUSION SOMETIMES PRESERVED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227832"/>
            <a:ext cx="10817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ECE3"/>
                </a:solidFill>
                <a:latin typeface="Calibri"/>
              </a:rPr>
              <a:t>Kerala: Thiyyar excluded from Brahminical Hinduism — never needed to Sanskritize for status. Exclusion preserved what inclusion would have destroyed.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886200"/>
            <a:ext cx="457200" cy="822960"/>
          </a:xfrm>
          <a:prstGeom prst="rect">
            <a:avLst/>
          </a:prstGeom>
          <a:solidFill>
            <a:srgbClr val="A88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0873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0D1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931920"/>
            <a:ext cx="10817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8FD0"/>
                </a:solidFill>
                <a:latin typeface="Calibri"/>
              </a:rPr>
              <a:t>DUAL-TRACK IS THE NORM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233672"/>
            <a:ext cx="10817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ECE3"/>
                </a:solidFill>
                <a:latin typeface="Calibri"/>
              </a:rPr>
              <a:t>Renuka/Yellamma clearest case; folk+Puranic forms coexisting is widespread. Single-track analysis always gets it wrong.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892040"/>
            <a:ext cx="457200" cy="822960"/>
          </a:xfrm>
          <a:prstGeom prst="rect">
            <a:avLst/>
          </a:prstGeom>
          <a:solidFill>
            <a:srgbClr val="4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093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0D1A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937760"/>
            <a:ext cx="10817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B8A0"/>
                </a:solidFill>
                <a:latin typeface="Calibri"/>
              </a:rPr>
              <a:t>MODERN DESANSKRITIZATION IS REAL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239512"/>
            <a:ext cx="10817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ECE3"/>
                </a:solidFill>
                <a:latin typeface="Calibri"/>
              </a:rPr>
              <a:t>Periyarism, DMK, Ambedkar Buddhism, Varkari, Sarna — tens of millions modifying or rejecting Sanskritization. Live process.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1828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NAVIGATION + CAVEATS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ECE3"/>
                </a:solidFill>
                <a:latin typeface="Calibri"/>
              </a:rPr>
              <a:t>Related Vault Notes and Evidence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1463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9880"/>
                </a:solidFill>
                <a:latin typeface="Calibri"/>
              </a:rP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8686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5EA7"/>
                </a:solidFill>
                <a:latin typeface="Calibri"/>
              </a:rPr>
              <a:t>EXPLORE DEEPER IN VAULT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CE3"/>
                </a:solidFill>
                <a:latin typeface="Calibri"/>
              </a:rPr>
              <a:t>• Complete Dravidian Folk-Tribal Deity Pantheon and Sanskritization Atlas.md (60+ deities, 9 regions)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CE3"/>
                </a:solidFill>
                <a:latin typeface="Calibri"/>
              </a:rPr>
              <a:t>• Dravidian Folk Deities and Sanskritization.md (original 10-deity note)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385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CE3"/>
                </a:solidFill>
                <a:latin typeface="Calibri"/>
              </a:rPr>
              <a:t>• Dravidian vs North Indian Ancestry.md (ANI/ASI/AASI cline)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2257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CE3"/>
                </a:solidFill>
                <a:latin typeface="Calibri"/>
              </a:rPr>
              <a:t>• BUDDHA_IVC_Connection_Critical_Analysis.md + IVC_Shramana_Buddhism_Jainism_Comparison.md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0662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CE3"/>
                </a:solidFill>
                <a:latin typeface="Calibri"/>
              </a:rPr>
              <a:t>• Shankara_vs_Basaveshwara_Mystic_vs_Revolutionary.md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9067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CE3"/>
                </a:solidFill>
                <a:latin typeface="Calibri"/>
              </a:rPr>
              <a:t>• Justice Party and Non-Brahmin Movement Research Synthesis.md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747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CE3"/>
                </a:solidFill>
                <a:latin typeface="Calibri"/>
              </a:rPr>
              <a:t>• History-Watchdog.md (expand Scout: Padmanabhapuram, Danteshwari, Sarna, Varkari)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868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5030"/>
                </a:solidFill>
                <a:latin typeface="Calibri"/>
              </a:rPr>
              <a:t>EVIDENCE QUALITY CAVEATS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170432"/>
            <a:ext cx="5468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9880"/>
                </a:solidFill>
                <a:latin typeface="Calibri"/>
              </a:rPr>
              <a:t>• Inscriptional dates (Khandoba 1063/1148 CE, Mallanna 1369 CE): reasonably reliable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591056"/>
            <a:ext cx="5468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9880"/>
                </a:solidFill>
                <a:latin typeface="Calibri"/>
              </a:rPr>
              <a:t>• Academic citations (Srinivas 1952, Sontheimer 1989, Thurston 1909): reliable; colonial needs modern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011680"/>
            <a:ext cx="5468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9880"/>
                </a:solidFill>
                <a:latin typeface="Calibri"/>
              </a:rPr>
              <a:t>• Deity names/tribal affiliations/Sanskritization paths: grounded in training knowledge+vault synthesis; verify before citing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432304"/>
            <a:ext cx="5468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9880"/>
                </a:solidFill>
                <a:latin typeface="Calibri"/>
              </a:rPr>
              <a:t>• Samakka Sarakka: pending full NotebookLM verification (notebook e08f258a-3008-411a-a963-79ff20a6ddf9)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852928"/>
            <a:ext cx="5468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9880"/>
                </a:solidFill>
                <a:latin typeface="Calibri"/>
              </a:rPr>
              <a:t>• IVC-continuity claims: treated cautiously per vault IVC-Shramana critical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315968"/>
            <a:ext cx="11365992" cy="640080"/>
          </a:xfrm>
          <a:prstGeom prst="rect">
            <a:avLst/>
          </a:prstGeom>
          <a:solidFill>
            <a:srgbClr val="1A1528"/>
          </a:solidFill>
          <a:ln w="635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708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8FD0"/>
                </a:solidFill>
                <a:latin typeface="Calibri"/>
              </a:rPr>
              <a:t>NotebookLM deep research in progress: Samakka Sarakka, Gond Persa Pen, Theyyam, Lingayat, Sarna, Khandoba, Renuka/Yellamma. Notebook: e08f258a-3008-411a-a963-79ff20a6ddf9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047488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9880"/>
                </a:solidFill>
                <a:latin typeface="Calibri"/>
              </a:rPr>
              <a:t>Created by: Claude (Hermes Agent) · Vault data + web research · 2026-07-15 · E:/_Knowledge/ObsidianVault/02 - AREAS/03 Ancient Civilizations/philosophy-comparison/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